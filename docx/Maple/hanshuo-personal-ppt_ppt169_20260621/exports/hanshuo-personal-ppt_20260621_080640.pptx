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这一页先交代汇报边界：我负责的是系统启动、内存系统和文件系统三个模块。要强调本次汇报不是从零重写一个操作系统，而是在 xv6-riscv 教学内核基础上完成理解、扩展和验证。最后一句自然过渡到下一页，说明接下来先给出个人负责范围和汇报组织方式。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结构说清楚。先指出三个负责模块，再说明每个模块都按照“整体框架、基础功能、扩展实现、测试验证”四层来讲，这样老师容易对应课程要求和个人工作。讲完后过渡到系统启动，说明先从最早发生的链路开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这一页重点讲启动主链路。先顺着图从 `_entry` 说到 `start()`、`main()`、`userinit()`、`init` 和 `sh`，再解释 QEMU 如何把内核加载到 0x80000000，以及 `entry.S` 和 `start()` 分别承担什么责任。结尾点出：有了这条主链路，才谈得上后面的内存和文件系统初始化。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这一页对应课程要求里的基础启动能力。讲法建议是四点并列：M 态到 S 态切换、每个 hart 的启动栈准备、trap vector 初始化，以及最终进入 `main()` 和 shell。语速保持平稳，不需要展开每个寄存器细节，只要让老师知道这些指标都有明确实现位置即可。最后过渡到启动阶段上我补充的三个扩展点。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这一页讲启动阶段的三个扩展。先说保存 DTB 指针，这是后面运行时物理内存探测的输入；再说把 `kmalloctest` 接进启动日志，便于在内核早期发现堆分配问题；最后说 shell 默认进入 `/desktop`，把根目录留给系统入口和挂载点。可以顺手指一下右侧截图，让老师看到这些改动是可见的、不是停留在代码里。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这里开始内存系统。先把整张图拆成三层：物理页框分配、虚拟内存管理、内核堆分配器。说明这三层不是并列孤岛，而是自底向上依赖：页框是底座，页表负责地址空间，`kmalloc` 负责对象级精细分配。结尾提示下一页先看 xv6 原有的基础能力，再看我补上的扩展。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这一页讲内存系统已有的基础能力。建议按四块说明：页级分配、Sv39 页表与映射、用户空间布局，以及 lazy `sbrk` 的按需分页。这里的重点不是夸大“我从零实现了什么”，而是把平台原有能力梳理清楚，为后面的扩展定位坐标。最后过渡到：我的核心工作在运行时探测和 `kmalloc`。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这一页是内存部分的重点。先讲运行时物理内存探测，强调不再写死物理内存上界，而是通过 DTB `/memory/reg` 读取 RAM 范围，所以在不同 QEMU 内存规模下都能自适应。然后讲 `kmalloc/kmfree` 两级架构，说明 7 个 slab 档位、小对象路径、大对象整页回退，以及 `pipe`、`file` 已经接入真实主路径。收尾用一句话概括：这让系统同时具备了规模自适应和对象级精细分配能力。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这一页专门把“实现了”和“跑通了”区分开。先看左侧启动日志里的 `kmalloctest: ok`，再说明它覆盖了边界检查、读写检查、复用检查和跨页增长检查。接着指出 `pipe` 和 `file` 对象已经改走 `kmalloc`，说明这不是单独的样例函数，而是进入了真实运行路径。最后过渡到文件系统部分。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文件系统部分先讲整体结构。建议从最上层的 `sysfile.c` 一直讲到底层的 virtio disk，把 `file.c`、`fs.c`、`log.c`、`bio.c` 串成一条链。这里要让老师建立一个认知：后面的 `lseek`、双盘和隐藏显示，都是在这个主干上的不同层次做改动。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这一页讲基础文件系统功能。先从进程视角解释 `fd -&gt; struct file -&gt; inode -&gt; disk block` 这条路径，再说明基本文件/目录操作和路径解析都是可用的。最后补充 `lseek`，指出它支持 `SEEK_SET`、`SEEK_CUR`、`SEEK_END`，因此文件系统已经具备随机访问能力。结尾自然过渡到扩展一，也就是日志和双独立磁盘。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这一页有两个核心点。第一，`log.c` 保证多块更新的事务一致性，可以用 `begin_op/end_op`、`log_write/commit/recover_from_log` 这条主线讲清楚。第二，双独立磁盘不是简单多挂一个镜像，而是把 superblock、inode、日志和路径解析都按设备号解释，同时通过 `/disk1` 提供命名空间入口。最后强调一句：这部分创新点在于“按设备分流”，而不是“多一个 .img 文件”。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这一页讲用户可见的目录浏览增强。先讲隐藏规则：`.`、`..`、点文件和根目录预装系统文件默认隐藏，`ls -a` 再展开。再讲颜色规则：目录蓝色、设备文件黄色、隐藏项灰色。最后一定要点明实现位置在用户态 `ls`，所以没有改磁盘格式，也没有给 inode 增加新属性，这一点能体现设计上的克制。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这一页把文件系统扩展的验证收束起来。先看左边的 `lseektest` 截图，说明三种 whence 和文件大小获取都已通过。再看右边隐藏与颜色显示截图，说明展示策略确实生效。双盘测试虽然不在截图里，但要口头补一句：在 `/disk1` 路径下的 `open/create/write/read` 和日志提交都已经跑通，因此双盘不是停留在设备识别层。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最后一页不要简单说“谢谢”。建议按三个模块各用一句话回顾：启动链路稳定、内存系统具备运行时探测和两级分配、文件系统扩展了 `lseek`、日志、双盘和显示增强。结尾一句落在“这些工作都已经通过真实运行验证”，把整场答辩收束到“可复现、可证明”的结论上。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ae33d6cdccdb492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5689f5e7146443b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8b5b36672ad06cf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38ad24bd73a1240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22338096534533b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23867426e1a58ab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204d7a9b024ff6d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e6328f1c1037937.png"/>
  <Relationship Id="rId3" Type="http://schemas.openxmlformats.org/officeDocument/2006/relationships/image" Target="../media/image_8f772dbe30e04bcd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609600"/>
            <a:ext cx="120015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5829300"/>
            <a:ext cx="10591800" cy="9525"/>
          </a:xfrm>
          <a:prstGeom prst="rect">
            <a:avLst/>
          </a:prstGeom>
          <a:solidFill>
            <a:srgbClr val="E5EAF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0570" y="1179195"/>
            <a:ext cx="7015925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基于 xv6-riscv 的系统启动、</a:t>
            </a:r>
            <a:r>
              <a:rPr lang="zh-CN" sz="39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内存系统与文件系统扩展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567940"/>
            <a:ext cx="3280410" cy="689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8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操作系统课程设计 A 题个人汇报</a:t>
            </a:r>
            <a:r>
              <a:rPr lang="zh-CN" sz="18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韩硕 / xv6-riscv / 2026.06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3676650"/>
            <a:ext cx="3086100" cy="12573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52950" y="3676650"/>
            <a:ext cx="3086100" cy="12573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305800" y="3676650"/>
            <a:ext cx="3086100" cy="12573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9655" y="402621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Noto Sans CJK SC"/>
                <a:ea typeface="Microsoft YaHei"/>
                <a:cs typeface="Noto Sans CJK SC"/>
              </a:rPr>
              <a:t>模块一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8225" y="431006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系统启动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2505" y="402621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Noto Sans CJK SC"/>
                <a:ea typeface="Microsoft YaHei"/>
                <a:cs typeface="Noto Sans CJK SC"/>
              </a:rPr>
              <a:t>模块二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91075" y="431006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内存系统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55355" y="402621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Noto Sans CJK SC"/>
                <a:ea typeface="Microsoft YaHei"/>
                <a:cs typeface="Noto Sans CJK SC"/>
              </a:rPr>
              <a:t>模块三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43925" y="4310062"/>
            <a:ext cx="13173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文件系统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955" y="5302568"/>
            <a:ext cx="80002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在 xv6 教学内核基础上，围绕启动链路、运行时内存管理和文件系统扩展给出结构说明与测试证据。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39922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个人负责范围与汇报结构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43728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三个模块，统一按“框架、基础、扩展、测试”四层展开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924050"/>
            <a:ext cx="3276600" cy="23812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457700" y="1924050"/>
            <a:ext cx="3276600" cy="23812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115300" y="1924050"/>
            <a:ext cx="3276600" cy="23812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107281" y="2212181"/>
            <a:ext cx="242888" cy="242888"/>
            <a:chOff x="1107281" y="2212181"/>
            <a:chExt cx="242888" cy="242888"/>
          </a:xfrm>
        </p:grpSpPr>
        <p:sp>
          <p:nvSpPr>
            <p:cNvPr id="10" name="Freeform 10"/>
            <p:cNvSpPr/>
            <p:nvPr/>
          </p:nvSpPr>
          <p:spPr>
            <a:xfrm>
              <a:off x="1107281" y="2212181"/>
              <a:ext cx="242888" cy="121444"/>
            </a:xfrm>
            <a:custGeom>
              <a:avLst/>
              <a:gdLst/>
              <a:ahLst/>
              <a:cxnLst/>
              <a:rect l="l" t="t" r="r" b="b"/>
              <a:pathLst>
                <a:path w="242888" h="121444">
                  <a:moveTo>
                    <a:pt x="26988" y="121444"/>
                  </a:moveTo>
                  <a:lnTo>
                    <a:pt x="0" y="121444"/>
                  </a:lnTo>
                  <a:lnTo>
                    <a:pt x="121444" y="0"/>
                  </a:lnTo>
                  <a:lnTo>
                    <a:pt x="242888" y="121444"/>
                  </a:lnTo>
                  <a:lnTo>
                    <a:pt x="215901" y="121444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34269" y="2333625"/>
              <a:ext cx="188913" cy="121444"/>
            </a:xfrm>
            <a:custGeom>
              <a:avLst/>
              <a:gdLst/>
              <a:ahLst/>
              <a:cxnLst/>
              <a:rect l="l" t="t" r="r" b="b"/>
              <a:pathLst>
                <a:path w="188913" h="121444">
                  <a:moveTo>
                    <a:pt x="0" y="0"/>
                  </a:moveTo>
                  <a:lnTo>
                    <a:pt x="0" y="94456"/>
                  </a:lnTo>
                  <a:cubicBezTo>
                    <a:pt x="0" y="109361"/>
                    <a:pt x="12083" y="121444"/>
                    <a:pt x="26988" y="121444"/>
                  </a:cubicBezTo>
                  <a:lnTo>
                    <a:pt x="161925" y="121444"/>
                  </a:lnTo>
                  <a:cubicBezTo>
                    <a:pt x="176830" y="121444"/>
                    <a:pt x="188913" y="109361"/>
                    <a:pt x="188913" y="94456"/>
                  </a:cubicBezTo>
                  <a:lnTo>
                    <a:pt x="188913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01738" y="2333625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53975" y="0"/>
                  </a:lnTo>
                  <a:lnTo>
                    <a:pt x="53975" y="53975"/>
                  </a:lnTo>
                  <a:lnTo>
                    <a:pt x="0" y="539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764881" y="2212181"/>
            <a:ext cx="242889" cy="242889"/>
            <a:chOff x="4764881" y="2212181"/>
            <a:chExt cx="242889" cy="242889"/>
          </a:xfrm>
        </p:grpSpPr>
        <p:sp>
          <p:nvSpPr>
            <p:cNvPr id="14" name="Freeform 14"/>
            <p:cNvSpPr/>
            <p:nvPr/>
          </p:nvSpPr>
          <p:spPr>
            <a:xfrm>
              <a:off x="4791869" y="2239169"/>
              <a:ext cx="188913" cy="188913"/>
            </a:xfrm>
            <a:custGeom>
              <a:avLst/>
              <a:gdLst/>
              <a:ahLst/>
              <a:cxnLst/>
              <a:rect l="l" t="t" r="r" b="b"/>
              <a:pathLst>
                <a:path w="188913" h="188913">
                  <a:moveTo>
                    <a:pt x="0" y="13494"/>
                  </a:moveTo>
                  <a:cubicBezTo>
                    <a:pt x="0" y="6041"/>
                    <a:pt x="6041" y="0"/>
                    <a:pt x="13494" y="0"/>
                  </a:cubicBezTo>
                  <a:lnTo>
                    <a:pt x="175419" y="0"/>
                  </a:lnTo>
                  <a:cubicBezTo>
                    <a:pt x="182872" y="0"/>
                    <a:pt x="188913" y="6041"/>
                    <a:pt x="188913" y="13494"/>
                  </a:cubicBezTo>
                  <a:lnTo>
                    <a:pt x="188913" y="175419"/>
                  </a:lnTo>
                  <a:cubicBezTo>
                    <a:pt x="188913" y="182872"/>
                    <a:pt x="182872" y="188913"/>
                    <a:pt x="175419" y="188913"/>
                  </a:cubicBezTo>
                  <a:lnTo>
                    <a:pt x="13494" y="188913"/>
                  </a:lnTo>
                  <a:cubicBezTo>
                    <a:pt x="6041" y="188913"/>
                    <a:pt x="0" y="182872"/>
                    <a:pt x="0" y="175419"/>
                  </a:cubicBezTo>
                  <a:lnTo>
                    <a:pt x="0" y="13494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32350" y="2279650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0" y="26988"/>
                  </a:moveTo>
                  <a:lnTo>
                    <a:pt x="0" y="0"/>
                  </a:lnTo>
                  <a:lnTo>
                    <a:pt x="26988" y="0"/>
                  </a:lnTo>
                  <a:moveTo>
                    <a:pt x="107950" y="80963"/>
                  </a:moveTo>
                  <a:lnTo>
                    <a:pt x="107950" y="107950"/>
                  </a:lnTo>
                  <a:lnTo>
                    <a:pt x="80963" y="107950"/>
                  </a:lnTo>
                  <a:moveTo>
                    <a:pt x="26988" y="107950"/>
                  </a:moveTo>
                  <a:lnTo>
                    <a:pt x="0" y="107950"/>
                  </a:lnTo>
                  <a:lnTo>
                    <a:pt x="0" y="80963"/>
                  </a:lnTo>
                  <a:moveTo>
                    <a:pt x="107950" y="26988"/>
                  </a:moveTo>
                  <a:lnTo>
                    <a:pt x="107950" y="0"/>
                  </a:lnTo>
                  <a:lnTo>
                    <a:pt x="80963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64881" y="2306638"/>
              <a:ext cx="26988" cy="9525"/>
            </a:xfrm>
            <a:custGeom>
              <a:avLst/>
              <a:gdLst/>
              <a:ahLst/>
              <a:cxnLst/>
              <a:rect l="l" t="t" r="r" b="b"/>
              <a:pathLst>
                <a:path w="26988" h="9525">
                  <a:moveTo>
                    <a:pt x="0" y="0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64881" y="2360613"/>
              <a:ext cx="26988" cy="9525"/>
            </a:xfrm>
            <a:custGeom>
              <a:avLst/>
              <a:gdLst/>
              <a:ahLst/>
              <a:cxnLst/>
              <a:rect l="l" t="t" r="r" b="b"/>
              <a:pathLst>
                <a:path w="26988" h="9525">
                  <a:moveTo>
                    <a:pt x="0" y="0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59338" y="2212181"/>
              <a:ext cx="9525" cy="26988"/>
            </a:xfrm>
            <a:custGeom>
              <a:avLst/>
              <a:gdLst/>
              <a:ahLst/>
              <a:cxnLst/>
              <a:rect l="l" t="t" r="r" b="b"/>
              <a:pathLst>
                <a:path w="9525" h="26988">
                  <a:moveTo>
                    <a:pt x="0" y="0"/>
                  </a:moveTo>
                  <a:lnTo>
                    <a:pt x="0" y="26988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913313" y="2212181"/>
              <a:ext cx="9525" cy="26988"/>
            </a:xfrm>
            <a:custGeom>
              <a:avLst/>
              <a:gdLst/>
              <a:ahLst/>
              <a:cxnLst/>
              <a:rect l="l" t="t" r="r" b="b"/>
              <a:pathLst>
                <a:path w="9525" h="26988">
                  <a:moveTo>
                    <a:pt x="0" y="0"/>
                  </a:moveTo>
                  <a:lnTo>
                    <a:pt x="0" y="26988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980782" y="2306638"/>
              <a:ext cx="26988" cy="9525"/>
            </a:xfrm>
            <a:custGeom>
              <a:avLst/>
              <a:gdLst/>
              <a:ahLst/>
              <a:cxnLst/>
              <a:rect l="l" t="t" r="r" b="b"/>
              <a:pathLst>
                <a:path w="26988" h="9525">
                  <a:moveTo>
                    <a:pt x="26988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980782" y="2360613"/>
              <a:ext cx="26988" cy="9525"/>
            </a:xfrm>
            <a:custGeom>
              <a:avLst/>
              <a:gdLst/>
              <a:ahLst/>
              <a:cxnLst/>
              <a:rect l="l" t="t" r="r" b="b"/>
              <a:pathLst>
                <a:path w="26988" h="9525">
                  <a:moveTo>
                    <a:pt x="26988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913313" y="2428082"/>
              <a:ext cx="9525" cy="26988"/>
            </a:xfrm>
            <a:custGeom>
              <a:avLst/>
              <a:gdLst/>
              <a:ahLst/>
              <a:cxnLst/>
              <a:rect l="l" t="t" r="r" b="b"/>
              <a:pathLst>
                <a:path w="9525" h="26988">
                  <a:moveTo>
                    <a:pt x="0" y="2698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859338" y="2428082"/>
              <a:ext cx="9525" cy="26988"/>
            </a:xfrm>
            <a:custGeom>
              <a:avLst/>
              <a:gdLst/>
              <a:ahLst/>
              <a:cxnLst/>
              <a:rect l="l" t="t" r="r" b="b"/>
              <a:pathLst>
                <a:path w="9525" h="26988">
                  <a:moveTo>
                    <a:pt x="0" y="2698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25" name="Freeform 25"/>
          <p:cNvSpPr/>
          <p:nvPr/>
        </p:nvSpPr>
        <p:spPr>
          <a:xfrm>
            <a:off x="8422481" y="2225675"/>
            <a:ext cx="256843" cy="202407"/>
          </a:xfrm>
          <a:custGeom>
            <a:avLst/>
            <a:gdLst/>
            <a:ahLst/>
            <a:cxnLst/>
            <a:rect l="l" t="t" r="r" b="b"/>
            <a:pathLst>
              <a:path w="256843" h="202407">
                <a:moveTo>
                  <a:pt x="26988" y="202407"/>
                </a:moveTo>
                <a:lnTo>
                  <a:pt x="64190" y="103214"/>
                </a:lnTo>
                <a:cubicBezTo>
                  <a:pt x="66164" y="97948"/>
                  <a:pt x="71196" y="94459"/>
                  <a:pt x="76820" y="94456"/>
                </a:cubicBezTo>
                <a:lnTo>
                  <a:pt x="242888" y="94456"/>
                </a:lnTo>
                <a:cubicBezTo>
                  <a:pt x="246853" y="94458"/>
                  <a:pt x="250616" y="96203"/>
                  <a:pt x="253178" y="99228"/>
                </a:cubicBezTo>
                <a:cubicBezTo>
                  <a:pt x="255741" y="102254"/>
                  <a:pt x="256843" y="106252"/>
                  <a:pt x="256193" y="110163"/>
                </a:cubicBezTo>
                <a:lnTo>
                  <a:pt x="242753" y="180479"/>
                </a:lnTo>
                <a:cubicBezTo>
                  <a:pt x="240325" y="193201"/>
                  <a:pt x="229202" y="202403"/>
                  <a:pt x="216251" y="202407"/>
                </a:cubicBezTo>
                <a:lnTo>
                  <a:pt x="26988" y="202407"/>
                </a:lnTo>
                <a:cubicBezTo>
                  <a:pt x="12083" y="202407"/>
                  <a:pt x="0" y="190324"/>
                  <a:pt x="0" y="175419"/>
                </a:cubicBezTo>
                <a:lnTo>
                  <a:pt x="0" y="26988"/>
                </a:lnTo>
                <a:cubicBezTo>
                  <a:pt x="0" y="12083"/>
                  <a:pt x="12083" y="0"/>
                  <a:pt x="26988" y="0"/>
                </a:cubicBezTo>
                <a:lnTo>
                  <a:pt x="80963" y="0"/>
                </a:lnTo>
                <a:lnTo>
                  <a:pt x="121444" y="40481"/>
                </a:lnTo>
                <a:lnTo>
                  <a:pt x="215901" y="40481"/>
                </a:lnTo>
                <a:cubicBezTo>
                  <a:pt x="230805" y="40481"/>
                  <a:pt x="242888" y="52564"/>
                  <a:pt x="242888" y="67469"/>
                </a:cubicBezTo>
                <a:lnTo>
                  <a:pt x="242888" y="94456"/>
                </a:lnTo>
              </a:path>
            </a:pathLst>
          </a:custGeom>
          <a:noFill/>
          <a:ln w="19050">
            <a:solidFill>
              <a:srgbClr val="1E3A8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497330" y="22021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系统启动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54930" y="22021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内存系统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12530" y="22021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文件系统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9655" y="2730818"/>
            <a:ext cx="2108835" cy="1131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启动入口与特权级切换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DTB 指针保存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- shell 默认进入 /desktop 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启动日志与验证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7255" y="2730818"/>
            <a:ext cx="2220278" cy="1131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运行时物理内存探测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- Sv39 页表与 lazy sbrk 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kmalloc/kmfree 两级架构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主路径回归测试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4855" y="2730818"/>
            <a:ext cx="1894522" cy="1131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文件描述符与路径解析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lseek 文件定位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- 双独立磁盘与 /disk1 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隐藏与颜色显示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4762500"/>
            <a:ext cx="105918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5845" y="49844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答辩重点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9655" y="5378768"/>
            <a:ext cx="8306752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先对齐课程要求，再说明本人在 xv6 原有能力之外补充了什么，最后用真实测试结果证明这些扩展已经跑通。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整套汇报不把 xv6 原版能力说成从零实现，而是强调“理解、扩展、验证”三步。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29211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系统启动整体框架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45438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从 QEMU 加载内核，到进入 shell 的主链路已经完整贯通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771650"/>
            <a:ext cx="10591800" cy="30289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454" y="1905000"/>
            <a:ext cx="4913093" cy="276225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800100" y="5143500"/>
            <a:ext cx="32766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457700" y="5143500"/>
            <a:ext cx="32766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115300" y="5143500"/>
            <a:ext cx="32766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9650" y="53244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启动入口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3460" y="5642610"/>
            <a:ext cx="35349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QEMU 通过 </a:t>
            </a:r>
            <a:r>
              <a:rPr lang="en-US" sz="120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-kernel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将内核加载到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0x80000000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3460" y="5890260"/>
            <a:ext cx="19267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CPU 从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_entry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开始执行。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67250" y="53244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特权级切换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71060" y="5642610"/>
            <a:ext cx="34949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entry.S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准备启动栈，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start()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设置 </a:t>
            </a:r>
            <a:r>
              <a:rPr lang="en-US" sz="120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mstatus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71060" y="5890260"/>
            <a:ext cx="27828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PMP 与委托寄存器，完成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M → S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切换。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4850" y="53244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进入用户态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28660" y="5642610"/>
            <a:ext cx="3798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main()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完成控制台、内存、设备和文件系统初始化，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28660" y="5890260"/>
            <a:ext cx="28148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随后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userinit()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、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init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、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sh</a:t>
            </a:r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依次启动。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29211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系统启动基础功能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3274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课程要求中的关键启动指标均有对应实现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962150"/>
            <a:ext cx="4991100" cy="17907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400800" y="1962150"/>
            <a:ext cx="4991100" cy="17907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0100" y="4114800"/>
            <a:ext cx="4991100" cy="17907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400800" y="4114800"/>
            <a:ext cx="4991100" cy="17907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45845" y="2203132"/>
            <a:ext cx="15204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1. 特权级切换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9655" y="2597468"/>
            <a:ext cx="2803207" cy="80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设置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mstatus.MPP = S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将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mepc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指向 </a:t>
            </a:r>
            <a:r>
              <a:rPr lang="en-US" sz="135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main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，最终通过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mret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从 M 态切换到 S 态。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6545" y="2203132"/>
            <a:ext cx="15204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2. 启动栈准备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597468"/>
            <a:ext cx="2940368" cy="80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en-US" sz="135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entry.S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为每个 hart 计算独立栈顶，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在进入 </a:t>
            </a:r>
            <a:r>
              <a:rPr lang="en-US" sz="135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start()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之前就完成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sp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初始化，保证后续 C 调用稳定。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845" y="4355782"/>
            <a:ext cx="20980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3. trap 入口初始化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655" y="4750118"/>
            <a:ext cx="2931795" cy="80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RISC-V 没有 x86 风格的 GDT/IDT，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这里通过异常/中断委托与 </a:t>
            </a:r>
            <a:r>
              <a:rPr lang="en-US" sz="135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stvec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完成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等价的 trap vector 准备。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46545" y="4355782"/>
            <a:ext cx="2340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4. 进入主函数与 shell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0355" y="4750118"/>
            <a:ext cx="3291840" cy="80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en-US" sz="135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main()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完成控制台、页表、进程、设备、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文件系统初始化，随后创建首个用户进程，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最终进入交互式 shell。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327817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系统启动扩展与验证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启动阶段已经为后续模块和用户体验预留了直接入口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7" name="Rectangle 7"/>
          <p:cNvSpPr/>
          <p:nvPr/>
        </p:nvSpPr>
        <p:spPr>
          <a:xfrm>
            <a:off x="6267450" y="1828800"/>
            <a:ext cx="5124450" cy="40957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33667"/>
            <a:ext cx="4857750" cy="3486017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950119" y="2016919"/>
            <a:ext cx="214312" cy="214312"/>
            <a:chOff x="950119" y="2016919"/>
            <a:chExt cx="214312" cy="214312"/>
          </a:xfrm>
        </p:grpSpPr>
        <p:sp>
          <p:nvSpPr>
            <p:cNvPr id="9" name="Freeform 9"/>
            <p:cNvSpPr/>
            <p:nvPr/>
          </p:nvSpPr>
          <p:spPr>
            <a:xfrm>
              <a:off x="950119" y="2016919"/>
              <a:ext cx="214312" cy="107156"/>
            </a:xfrm>
            <a:custGeom>
              <a:avLst/>
              <a:gdLst/>
              <a:ahLst/>
              <a:cxnLst/>
              <a:rect l="l" t="t" r="r" b="b"/>
              <a:pathLst>
                <a:path w="214312" h="107156">
                  <a:moveTo>
                    <a:pt x="23812" y="107156"/>
                  </a:moveTo>
                  <a:lnTo>
                    <a:pt x="0" y="107156"/>
                  </a:lnTo>
                  <a:lnTo>
                    <a:pt x="107156" y="0"/>
                  </a:lnTo>
                  <a:lnTo>
                    <a:pt x="214312" y="107156"/>
                  </a:lnTo>
                  <a:lnTo>
                    <a:pt x="190500" y="107156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931" y="2124075"/>
              <a:ext cx="166688" cy="107156"/>
            </a:xfrm>
            <a:custGeom>
              <a:avLst/>
              <a:gdLst/>
              <a:ahLst/>
              <a:cxnLst/>
              <a:rect l="l" t="t" r="r" b="b"/>
              <a:pathLst>
                <a:path w="166688" h="107156">
                  <a:moveTo>
                    <a:pt x="0" y="0"/>
                  </a:moveTo>
                  <a:lnTo>
                    <a:pt x="0" y="83344"/>
                  </a:lnTo>
                  <a:cubicBezTo>
                    <a:pt x="0" y="96495"/>
                    <a:pt x="10661" y="107156"/>
                    <a:pt x="23812" y="107156"/>
                  </a:cubicBezTo>
                  <a:lnTo>
                    <a:pt x="142875" y="107156"/>
                  </a:lnTo>
                  <a:cubicBezTo>
                    <a:pt x="156026" y="107156"/>
                    <a:pt x="166688" y="96495"/>
                    <a:pt x="166688" y="83344"/>
                  </a:cubicBezTo>
                  <a:lnTo>
                    <a:pt x="166688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33462" y="2124075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331595" y="2031682"/>
            <a:ext cx="25139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默认目录进入 /desktop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5405" y="2368868"/>
            <a:ext cx="56149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启动后不直接停留在根目录，而是把根目录保留给系统入口和挂载点。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50119" y="3114675"/>
            <a:ext cx="214312" cy="190500"/>
            <a:chOff x="950119" y="3114675"/>
            <a:chExt cx="214312" cy="190500"/>
          </a:xfrm>
        </p:grpSpPr>
        <p:sp>
          <p:nvSpPr>
            <p:cNvPr id="15" name="Freeform 15"/>
            <p:cNvSpPr/>
            <p:nvPr/>
          </p:nvSpPr>
          <p:spPr>
            <a:xfrm>
              <a:off x="1009650" y="3174206"/>
              <a:ext cx="35719" cy="71438"/>
            </a:xfrm>
            <a:custGeom>
              <a:avLst/>
              <a:gdLst/>
              <a:ahLst/>
              <a:cxnLst/>
              <a:rect l="l" t="t" r="r" b="b"/>
              <a:pathLst>
                <a:path w="35719" h="71438">
                  <a:moveTo>
                    <a:pt x="0" y="0"/>
                  </a:moveTo>
                  <a:lnTo>
                    <a:pt x="35719" y="35719"/>
                  </a:lnTo>
                  <a:lnTo>
                    <a:pt x="0" y="71438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69181" y="3245644"/>
              <a:ext cx="35719" cy="9525"/>
            </a:xfrm>
            <a:custGeom>
              <a:avLst/>
              <a:gdLst/>
              <a:ahLst/>
              <a:cxnLst/>
              <a:rect l="l" t="t" r="r" b="b"/>
              <a:pathLst>
                <a:path w="35719" h="9525">
                  <a:moveTo>
                    <a:pt x="0" y="0"/>
                  </a:moveTo>
                  <a:lnTo>
                    <a:pt x="35719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50119" y="3114675"/>
              <a:ext cx="214312" cy="190500"/>
            </a:xfrm>
            <a:custGeom>
              <a:avLst/>
              <a:gdLst/>
              <a:ahLst/>
              <a:cxnLst/>
              <a:rect l="l" t="t" r="r" b="b"/>
              <a:pathLst>
                <a:path w="214312" h="190500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90500" y="0"/>
                  </a:lnTo>
                  <a:cubicBezTo>
                    <a:pt x="203651" y="0"/>
                    <a:pt x="214312" y="10661"/>
                    <a:pt x="214312" y="23812"/>
                  </a:cubicBezTo>
                  <a:lnTo>
                    <a:pt x="214312" y="166688"/>
                  </a:lnTo>
                  <a:cubicBezTo>
                    <a:pt x="214312" y="179839"/>
                    <a:pt x="203651" y="190500"/>
                    <a:pt x="190500" y="190500"/>
                  </a:cubicBezTo>
                  <a:lnTo>
                    <a:pt x="23812" y="190500"/>
                  </a:lnTo>
                  <a:cubicBezTo>
                    <a:pt x="10661" y="190500"/>
                    <a:pt x="0" y="179839"/>
                    <a:pt x="0" y="166688"/>
                  </a:cubicBezTo>
                  <a:lnTo>
                    <a:pt x="0" y="23812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331595" y="3117532"/>
            <a:ext cx="28258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启动日志接入 kmalloctest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5405" y="3454718"/>
            <a:ext cx="2948940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启动阶段即可看到 </a:t>
            </a:r>
            <a:r>
              <a:rPr lang="en-US" sz="1350" dirty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kmalloctest: ok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便于在内核早期发现堆分配异常。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50119" y="4341019"/>
            <a:ext cx="214312" cy="214312"/>
            <a:chOff x="950119" y="4341019"/>
            <a:chExt cx="214312" cy="214312"/>
          </a:xfrm>
        </p:grpSpPr>
        <p:sp>
          <p:nvSpPr>
            <p:cNvPr id="21" name="Freeform 21"/>
            <p:cNvSpPr/>
            <p:nvPr/>
          </p:nvSpPr>
          <p:spPr>
            <a:xfrm>
              <a:off x="973931" y="4364831"/>
              <a:ext cx="166688" cy="166688"/>
            </a:xfrm>
            <a:custGeom>
              <a:avLst/>
              <a:gdLst/>
              <a:ahLst/>
              <a:cxnLst/>
              <a:rect l="l" t="t" r="r" b="b"/>
              <a:pathLst>
                <a:path w="166688" h="166688">
                  <a:moveTo>
                    <a:pt x="0" y="11906"/>
                  </a:moveTo>
                  <a:cubicBezTo>
                    <a:pt x="0" y="5331"/>
                    <a:pt x="5331" y="0"/>
                    <a:pt x="11906" y="0"/>
                  </a:cubicBezTo>
                  <a:lnTo>
                    <a:pt x="154781" y="0"/>
                  </a:lnTo>
                  <a:cubicBezTo>
                    <a:pt x="161357" y="0"/>
                    <a:pt x="166688" y="5331"/>
                    <a:pt x="166688" y="11906"/>
                  </a:cubicBezTo>
                  <a:lnTo>
                    <a:pt x="166688" y="154781"/>
                  </a:lnTo>
                  <a:cubicBezTo>
                    <a:pt x="166688" y="161357"/>
                    <a:pt x="161357" y="166688"/>
                    <a:pt x="154781" y="166688"/>
                  </a:cubicBezTo>
                  <a:lnTo>
                    <a:pt x="11906" y="166688"/>
                  </a:lnTo>
                  <a:cubicBezTo>
                    <a:pt x="5331" y="166688"/>
                    <a:pt x="0" y="161357"/>
                    <a:pt x="0" y="154781"/>
                  </a:cubicBezTo>
                  <a:lnTo>
                    <a:pt x="0" y="11906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09650" y="4400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23812"/>
                  </a:moveTo>
                  <a:lnTo>
                    <a:pt x="0" y="0"/>
                  </a:lnTo>
                  <a:lnTo>
                    <a:pt x="23812" y="0"/>
                  </a:lnTo>
                  <a:moveTo>
                    <a:pt x="95250" y="71438"/>
                  </a:moveTo>
                  <a:lnTo>
                    <a:pt x="95250" y="95250"/>
                  </a:lnTo>
                  <a:lnTo>
                    <a:pt x="71438" y="95250"/>
                  </a:lnTo>
                  <a:moveTo>
                    <a:pt x="23812" y="95250"/>
                  </a:moveTo>
                  <a:lnTo>
                    <a:pt x="0" y="95250"/>
                  </a:lnTo>
                  <a:lnTo>
                    <a:pt x="0" y="71438"/>
                  </a:lnTo>
                  <a:moveTo>
                    <a:pt x="95250" y="23812"/>
                  </a:moveTo>
                  <a:lnTo>
                    <a:pt x="95250" y="0"/>
                  </a:lnTo>
                  <a:lnTo>
                    <a:pt x="71438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50119" y="4424362"/>
              <a:ext cx="23812" cy="9525"/>
            </a:xfrm>
            <a:custGeom>
              <a:avLst/>
              <a:gdLst/>
              <a:ahLst/>
              <a:cxnLst/>
              <a:rect l="l" t="t" r="r" b="b"/>
              <a:pathLst>
                <a:path w="23812" h="9525">
                  <a:moveTo>
                    <a:pt x="0" y="0"/>
                  </a:moveTo>
                  <a:lnTo>
                    <a:pt x="23812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50119" y="4471988"/>
              <a:ext cx="23812" cy="9525"/>
            </a:xfrm>
            <a:custGeom>
              <a:avLst/>
              <a:gdLst/>
              <a:ahLst/>
              <a:cxnLst/>
              <a:rect l="l" t="t" r="r" b="b"/>
              <a:pathLst>
                <a:path w="23812" h="9525">
                  <a:moveTo>
                    <a:pt x="0" y="0"/>
                  </a:moveTo>
                  <a:lnTo>
                    <a:pt x="23812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33462" y="4341019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81088" y="4341019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40619" y="4424362"/>
              <a:ext cx="23812" cy="9525"/>
            </a:xfrm>
            <a:custGeom>
              <a:avLst/>
              <a:gdLst/>
              <a:ahLst/>
              <a:cxnLst/>
              <a:rect l="l" t="t" r="r" b="b"/>
              <a:pathLst>
                <a:path w="23812" h="9525">
                  <a:moveTo>
                    <a:pt x="23812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40619" y="4471988"/>
              <a:ext cx="23812" cy="9525"/>
            </a:xfrm>
            <a:custGeom>
              <a:avLst/>
              <a:gdLst/>
              <a:ahLst/>
              <a:cxnLst/>
              <a:rect l="l" t="t" r="r" b="b"/>
              <a:pathLst>
                <a:path w="23812" h="9525">
                  <a:moveTo>
                    <a:pt x="23812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81088" y="4531519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2381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33462" y="4531519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2381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331595" y="4355782"/>
            <a:ext cx="14858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保存 DTB 指针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35405" y="4692968"/>
            <a:ext cx="3077527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启动时把 DTB 指针从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a1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保存下来，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后续内存探测即可读取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/memory/reg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" y="5467350"/>
            <a:ext cx="5086350" cy="45720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75360" y="5642610"/>
            <a:ext cx="6911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这三项扩展分别对应：后续模块输入、启动期自测能力、以及用户进入系统后的默认工作区体验。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29211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内存系统整体结构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43548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当前内存系统已经形成页框、页表与内核堆的三层结构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771650"/>
            <a:ext cx="10591800" cy="30099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395" y="1905000"/>
            <a:ext cx="4879209" cy="274320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800100" y="5124450"/>
            <a:ext cx="32766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457700" y="5124450"/>
            <a:ext cx="32766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115300" y="5124450"/>
            <a:ext cx="32766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1062038" y="5367338"/>
            <a:ext cx="200025" cy="200025"/>
            <a:chOff x="1062038" y="5367338"/>
            <a:chExt cx="200025" cy="200025"/>
          </a:xfrm>
        </p:grpSpPr>
        <p:sp>
          <p:nvSpPr>
            <p:cNvPr id="12" name="Freeform 12"/>
            <p:cNvSpPr/>
            <p:nvPr/>
          </p:nvSpPr>
          <p:spPr>
            <a:xfrm>
              <a:off x="1084263" y="5389563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144463" y="0"/>
                  </a:lnTo>
                  <a:cubicBezTo>
                    <a:pt x="150600" y="0"/>
                    <a:pt x="155575" y="4975"/>
                    <a:pt x="155575" y="11113"/>
                  </a:cubicBezTo>
                  <a:lnTo>
                    <a:pt x="155575" y="144463"/>
                  </a:lnTo>
                  <a:cubicBezTo>
                    <a:pt x="155575" y="150600"/>
                    <a:pt x="150600" y="155575"/>
                    <a:pt x="144463" y="155575"/>
                  </a:cubicBezTo>
                  <a:lnTo>
                    <a:pt x="11113" y="155575"/>
                  </a:lnTo>
                  <a:cubicBezTo>
                    <a:pt x="4975" y="155575"/>
                    <a:pt x="0" y="150600"/>
                    <a:pt x="0" y="144463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17600" y="542290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22225"/>
                  </a:moveTo>
                  <a:lnTo>
                    <a:pt x="0" y="0"/>
                  </a:lnTo>
                  <a:lnTo>
                    <a:pt x="22225" y="0"/>
                  </a:lnTo>
                  <a:moveTo>
                    <a:pt x="88900" y="66675"/>
                  </a:moveTo>
                  <a:lnTo>
                    <a:pt x="88900" y="88900"/>
                  </a:lnTo>
                  <a:lnTo>
                    <a:pt x="66675" y="88900"/>
                  </a:lnTo>
                  <a:moveTo>
                    <a:pt x="22225" y="88900"/>
                  </a:moveTo>
                  <a:lnTo>
                    <a:pt x="0" y="88900"/>
                  </a:lnTo>
                  <a:lnTo>
                    <a:pt x="0" y="66675"/>
                  </a:lnTo>
                  <a:moveTo>
                    <a:pt x="88900" y="22225"/>
                  </a:moveTo>
                  <a:lnTo>
                    <a:pt x="88900" y="0"/>
                  </a:ln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62038" y="544512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62038" y="548957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139825" y="536733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184275" y="536733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39838" y="544512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239838" y="548957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184275" y="554513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39825" y="554513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390650" y="5362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物理页框分配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3460" y="5699760"/>
            <a:ext cx="2710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`kalloc/kfree` 负责 4KB 页级资源。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19638" y="5367338"/>
            <a:ext cx="200025" cy="200025"/>
            <a:chOff x="4719638" y="5367338"/>
            <a:chExt cx="200025" cy="200025"/>
          </a:xfrm>
        </p:grpSpPr>
        <p:sp>
          <p:nvSpPr>
            <p:cNvPr id="25" name="Freeform 25"/>
            <p:cNvSpPr/>
            <p:nvPr/>
          </p:nvSpPr>
          <p:spPr>
            <a:xfrm>
              <a:off x="4719638" y="552291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22225"/>
                  </a:moveTo>
                  <a:cubicBezTo>
                    <a:pt x="0" y="34500"/>
                    <a:pt x="9950" y="44450"/>
                    <a:pt x="22225" y="44450"/>
                  </a:cubicBez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875213" y="536733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44450"/>
                  </a:move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  <a:cubicBezTo>
                    <a:pt x="0" y="34500"/>
                    <a:pt x="9950" y="44450"/>
                    <a:pt x="22225" y="44450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741863" y="5389563"/>
              <a:ext cx="166688" cy="155575"/>
            </a:xfrm>
            <a:custGeom>
              <a:avLst/>
              <a:gdLst/>
              <a:ahLst/>
              <a:cxnLst/>
              <a:rect l="l" t="t" r="r" b="b"/>
              <a:pathLst>
                <a:path w="166688" h="155575">
                  <a:moveTo>
                    <a:pt x="66675" y="155575"/>
                  </a:moveTo>
                  <a:lnTo>
                    <a:pt x="127794" y="155575"/>
                  </a:lnTo>
                  <a:cubicBezTo>
                    <a:pt x="149275" y="155575"/>
                    <a:pt x="166688" y="138162"/>
                    <a:pt x="166688" y="116682"/>
                  </a:cubicBezTo>
                  <a:cubicBezTo>
                    <a:pt x="166688" y="95201"/>
                    <a:pt x="149275" y="77788"/>
                    <a:pt x="127794" y="77788"/>
                  </a:cubicBezTo>
                  <a:lnTo>
                    <a:pt x="38894" y="77788"/>
                  </a:lnTo>
                  <a:cubicBezTo>
                    <a:pt x="17413" y="77788"/>
                    <a:pt x="0" y="60374"/>
                    <a:pt x="0" y="38894"/>
                  </a:cubicBezTo>
                  <a:cubicBezTo>
                    <a:pt x="0" y="17413"/>
                    <a:pt x="17413" y="0"/>
                    <a:pt x="38894" y="0"/>
                  </a:cubicBez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5048250" y="5362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虚拟内存管理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71060" y="5699760"/>
            <a:ext cx="33108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Sv39 页表、映射、解除映射与用户空间维护。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77238" y="5378450"/>
            <a:ext cx="200025" cy="187326"/>
            <a:chOff x="8377238" y="5378450"/>
            <a:chExt cx="200025" cy="187326"/>
          </a:xfrm>
        </p:grpSpPr>
        <p:sp>
          <p:nvSpPr>
            <p:cNvPr id="31" name="Freeform 31"/>
            <p:cNvSpPr/>
            <p:nvPr/>
          </p:nvSpPr>
          <p:spPr>
            <a:xfrm>
              <a:off x="8377238" y="5467350"/>
              <a:ext cx="66675" cy="88900"/>
            </a:xfrm>
            <a:custGeom>
              <a:avLst/>
              <a:gdLst/>
              <a:ahLst/>
              <a:cxnLst/>
              <a:rect l="l" t="t" r="r" b="b"/>
              <a:pathLst>
                <a:path w="66675" h="88900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77788"/>
                  </a:lnTo>
                  <a:cubicBezTo>
                    <a:pt x="66675" y="83925"/>
                    <a:pt x="61700" y="88900"/>
                    <a:pt x="55563" y="88900"/>
                  </a:cubicBezTo>
                  <a:lnTo>
                    <a:pt x="11113" y="88900"/>
                  </a:lnTo>
                  <a:cubicBezTo>
                    <a:pt x="4975" y="88900"/>
                    <a:pt x="0" y="83925"/>
                    <a:pt x="0" y="7778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510588" y="5422900"/>
              <a:ext cx="66675" cy="133350"/>
            </a:xfrm>
            <a:custGeom>
              <a:avLst/>
              <a:gdLst/>
              <a:ahLst/>
              <a:cxnLst/>
              <a:rect l="l" t="t" r="r" b="b"/>
              <a:pathLst>
                <a:path w="66675" h="133350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122238"/>
                  </a:lnTo>
                  <a:cubicBezTo>
                    <a:pt x="66675" y="128375"/>
                    <a:pt x="61700" y="133350"/>
                    <a:pt x="55563" y="133350"/>
                  </a:cubicBezTo>
                  <a:lnTo>
                    <a:pt x="11113" y="133350"/>
                  </a:lnTo>
                  <a:cubicBezTo>
                    <a:pt x="4975" y="133350"/>
                    <a:pt x="0" y="128375"/>
                    <a:pt x="0" y="12223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443913" y="5378450"/>
              <a:ext cx="66675" cy="177801"/>
            </a:xfrm>
            <a:custGeom>
              <a:avLst/>
              <a:gdLst/>
              <a:ahLst/>
              <a:cxnLst/>
              <a:rect l="l" t="t" r="r" b="b"/>
              <a:pathLst>
                <a:path w="66675" h="177801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166688"/>
                  </a:lnTo>
                  <a:cubicBezTo>
                    <a:pt x="66675" y="172825"/>
                    <a:pt x="61700" y="177801"/>
                    <a:pt x="55563" y="177801"/>
                  </a:cubicBezTo>
                  <a:lnTo>
                    <a:pt x="11113" y="177801"/>
                  </a:lnTo>
                  <a:cubicBezTo>
                    <a:pt x="4975" y="177801"/>
                    <a:pt x="0" y="172825"/>
                    <a:pt x="0" y="16668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388350" y="5556251"/>
              <a:ext cx="155575" cy="9525"/>
            </a:xfrm>
            <a:custGeom>
              <a:avLst/>
              <a:gdLst/>
              <a:ahLst/>
              <a:cxnLst/>
              <a:rect l="l" t="t" r="r" b="b"/>
              <a:pathLst>
                <a:path w="155575" h="9525">
                  <a:moveTo>
                    <a:pt x="0" y="0"/>
                  </a:moveTo>
                  <a:lnTo>
                    <a:pt x="155575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8705850" y="53625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内核堆分配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28660" y="56997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`kmalloc/kmfree` 提供小对象与大对象两条路径。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29211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内存系统基础功能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56599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在 xv6 原有机制上，页框、页表与用户空间管理已经形成完整基础能力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85950"/>
            <a:ext cx="2724150" cy="41338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45845" y="21650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基础结论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9655" y="2559368"/>
            <a:ext cx="1920240" cy="1455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页级分配、Sv39 页表与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用户空间布局已经打通。</a:t>
            </a:r>
          </a:p>
          <a:p>
            <a:pPr algn="l">
              <a:lnSpc>
                <a:spcPts val="2100"/>
              </a:lnSpc>
              <a:spcBef>
                <a:spcPts val="900"/>
              </a:spcBef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后续扩展不是推翻原有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框架，而是在其上补齐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运行时探测与精细分配。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43350" y="1885950"/>
            <a:ext cx="35052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848600" y="1885950"/>
            <a:ext cx="35433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943350" y="4171950"/>
            <a:ext cx="35052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48600" y="4171950"/>
            <a:ext cx="35433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90048" y="2096929"/>
            <a:ext cx="136317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物理页框管理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93858" y="2453164"/>
            <a:ext cx="3246596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`kalloc/kfree` 基于空闲链表管理 4KB 页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为页表、用户页和内核对象提供底层页资源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是所有后续分配路径的基础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95298" y="2096929"/>
            <a:ext cx="114264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页表与映射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99108" y="2453164"/>
            <a:ext cx="3902392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`walk/mappages/uvmunmap` 支持映射与解除映射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`kvmmake/uvmcreate` 创建内核与用户页表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`fork/exec` 路径能稳定维护地址空间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90048" y="4382929"/>
            <a:ext cx="136317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用户空间布局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3858" y="4739164"/>
            <a:ext cx="3999548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- 代码段、数据段、堆、栈与 TRAPFRAME/TRAMPOLINE 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`exec()` 负责装载 ELF 段并建立初始布局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`sbrk`/`sbrklazy` 负责用户堆增长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95298" y="43829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按需分页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99108" y="4739164"/>
            <a:ext cx="2922746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lazy `sbrk` 支持缺页时再分配物理页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降低了堆扩展时的立即分配成本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为更复杂的虚拟内存机制保留扩展空间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608097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内存系统扩展：运行时探测与 kmalloc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6155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关键增量在于把教学型固定上界实现推进为可自适应、可精细分配的运行版本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09750"/>
            <a:ext cx="5829300" cy="31813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70" y="1943100"/>
            <a:ext cx="5184160" cy="291465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7048500" y="1809750"/>
            <a:ext cx="43434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048500" y="3524250"/>
            <a:ext cx="43434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00100" y="5314950"/>
            <a:ext cx="10591800" cy="87630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294245" y="20126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运行时物理内存探测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99008" y="2376964"/>
            <a:ext cx="2744629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启动时解析 DTB 的 </a:t>
            </a:r>
            <a:r>
              <a:rPr lang="en-US" sz="1275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/memory/reg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不再写死物理内存上界，可适配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QEMU -m 128M / 256M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等不同配置。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94245" y="3727132"/>
            <a:ext cx="2791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kmalloc/kmfree 两级架构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99008" y="4091464"/>
            <a:ext cx="3659505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7 个 slab 档位负责小对象，大对象回退整页分配，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空 slab 页可自动归还；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struct pipe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与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struct file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已真实接入该分配路径。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655" y="5512118"/>
            <a:ext cx="87293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 xml:space="preserve">这一页的重点不是“又加了一个接口”，而是让内存子系统同时具备 </a:t>
            </a:r>
            <a:r>
              <a:rPr lang="zh-CN" sz="1350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规模自适应</a:t>
            </a:r>
            <a:r>
              <a:rPr lang="zh-CN" sz="1350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 xml:space="preserve"> 与 </a:t>
            </a:r>
            <a:r>
              <a:rPr lang="zh-CN" sz="1350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对象级分配精度</a:t>
            </a:r>
            <a:r>
              <a:rPr lang="zh-CN" sz="1350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 xml:space="preserve"> 两个能力。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327817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内存系统测试与验证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55879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测试重点在于：不仅自测通过，而且真实对象路径已经切换到 kmalloc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66900"/>
            <a:ext cx="4533900" cy="38290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003425"/>
            <a:ext cx="4267200" cy="3556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789295" y="20697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验证结论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93105" y="2502218"/>
            <a:ext cx="4320540" cy="1931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1. 启动日志出现 </a:t>
            </a:r>
            <a:r>
              <a:rPr lang="en-US" sz="1350" dirty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kmalloctest: ok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，说明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边界检查、读写检查、复用检查和跨页增长检查均通过。</a:t>
            </a:r>
          </a:p>
          <a:p>
            <a:pPr algn="l">
              <a:lnSpc>
                <a:spcPts val="2250"/>
              </a:lnSpc>
              <a:spcBef>
                <a:spcPts val="900"/>
              </a:spcBef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2. `pipe` 和 `file` 对象已经改走 `kmalloc`，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证明改动进入了真实内核主路径。</a:t>
            </a:r>
          </a:p>
          <a:p>
            <a:pPr algn="l">
              <a:lnSpc>
                <a:spcPts val="2250"/>
              </a:lnSpc>
              <a:spcBef>
                <a:spcPts val="900"/>
              </a:spcBef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3. 运行时物理内存探测能随 QEMU 内存规模变化，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说明 DTB 探测不是静态演示，而是实际生效。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810250" y="4953000"/>
            <a:ext cx="5581650" cy="74295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6050756" y="5222875"/>
            <a:ext cx="185737" cy="174624"/>
            <a:chOff x="6050756" y="5222875"/>
            <a:chExt cx="185737" cy="174624"/>
          </a:xfrm>
        </p:grpSpPr>
        <p:sp>
          <p:nvSpPr>
            <p:cNvPr id="12" name="Freeform 12"/>
            <p:cNvSpPr/>
            <p:nvPr/>
          </p:nvSpPr>
          <p:spPr>
            <a:xfrm>
              <a:off x="6050756" y="5305425"/>
              <a:ext cx="61912" cy="82550"/>
            </a:xfrm>
            <a:custGeom>
              <a:avLst/>
              <a:gdLst/>
              <a:ahLst/>
              <a:cxnLst/>
              <a:rect l="l" t="t" r="r" b="b"/>
              <a:pathLst>
                <a:path w="61912" h="82550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72231"/>
                  </a:lnTo>
                  <a:cubicBezTo>
                    <a:pt x="61912" y="77930"/>
                    <a:pt x="57292" y="82550"/>
                    <a:pt x="51594" y="82550"/>
                  </a:cubicBezTo>
                  <a:lnTo>
                    <a:pt x="10319" y="82550"/>
                  </a:lnTo>
                  <a:cubicBezTo>
                    <a:pt x="4620" y="82550"/>
                    <a:pt x="0" y="77930"/>
                    <a:pt x="0" y="72231"/>
                  </a:cubicBezTo>
                  <a:lnTo>
                    <a:pt x="0" y="10319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174581" y="5264150"/>
              <a:ext cx="61912" cy="123825"/>
            </a:xfrm>
            <a:custGeom>
              <a:avLst/>
              <a:gdLst/>
              <a:ahLst/>
              <a:cxnLst/>
              <a:rect l="l" t="t" r="r" b="b"/>
              <a:pathLst>
                <a:path w="61912" h="123825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113506"/>
                  </a:lnTo>
                  <a:cubicBezTo>
                    <a:pt x="61912" y="119205"/>
                    <a:pt x="57292" y="123825"/>
                    <a:pt x="51594" y="123825"/>
                  </a:cubicBezTo>
                  <a:lnTo>
                    <a:pt x="10319" y="123825"/>
                  </a:lnTo>
                  <a:cubicBezTo>
                    <a:pt x="4620" y="123825"/>
                    <a:pt x="0" y="119205"/>
                    <a:pt x="0" y="113506"/>
                  </a:cubicBezTo>
                  <a:lnTo>
                    <a:pt x="0" y="10319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12668" y="5222875"/>
              <a:ext cx="61912" cy="165099"/>
            </a:xfrm>
            <a:custGeom>
              <a:avLst/>
              <a:gdLst/>
              <a:ahLst/>
              <a:cxnLst/>
              <a:rect l="l" t="t" r="r" b="b"/>
              <a:pathLst>
                <a:path w="61912" h="165099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154781"/>
                  </a:lnTo>
                  <a:cubicBezTo>
                    <a:pt x="61912" y="160480"/>
                    <a:pt x="57292" y="165099"/>
                    <a:pt x="51594" y="165099"/>
                  </a:cubicBezTo>
                  <a:lnTo>
                    <a:pt x="10319" y="165099"/>
                  </a:lnTo>
                  <a:cubicBezTo>
                    <a:pt x="4620" y="165099"/>
                    <a:pt x="0" y="160480"/>
                    <a:pt x="0" y="154781"/>
                  </a:cubicBezTo>
                  <a:lnTo>
                    <a:pt x="0" y="10319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061075" y="5387974"/>
              <a:ext cx="144462" cy="9525"/>
            </a:xfrm>
            <a:custGeom>
              <a:avLst/>
              <a:gdLst/>
              <a:ahLst/>
              <a:cxnLst/>
              <a:rect l="l" t="t" r="r" b="b"/>
              <a:pathLst>
                <a:path w="144462" h="9525">
                  <a:moveTo>
                    <a:pt x="0" y="0"/>
                  </a:moveTo>
                  <a:lnTo>
                    <a:pt x="144462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403658" y="5291614"/>
            <a:ext cx="56685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这组测试的意义在于：`kmalloc` 已经从“实验代码”进入“真实运行路径”。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765" y="5868352"/>
            <a:ext cx="2736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Noto Sans CJK SC"/>
                <a:ea typeface="Microsoft YaHei"/>
                <a:cs typeface="Noto Sans CJK SC"/>
              </a:rPr>
              <a:t>截图来源：启动阶段 kmalloctest 自测日志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29211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文件系统整体结构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52549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从系统调用层到底层块设备层，可以按分层方式理解文件系统主干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771650"/>
            <a:ext cx="10591800" cy="30099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395" y="1905000"/>
            <a:ext cx="4879209" cy="274320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800100" y="5124450"/>
            <a:ext cx="5067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324600" y="5124450"/>
            <a:ext cx="5067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47750" y="5324475"/>
            <a:ext cx="21383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上层到下层的解释路径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" y="5661660"/>
            <a:ext cx="40709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sysfile.c</a:t>
            </a:r>
            <a:r>
              <a:rPr lang="en-US" sz="1200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rPr>
              <a:t xml:space="preserve"> →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file.c</a:t>
            </a:r>
            <a:r>
              <a:rPr lang="en-US" sz="1200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rPr>
              <a:t xml:space="preserve"> →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fs.c</a:t>
            </a:r>
            <a:r>
              <a:rPr lang="en-US" sz="1200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rPr>
              <a:t xml:space="preserve"> →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log.c</a:t>
            </a:r>
            <a:r>
              <a:rPr lang="en-US" sz="1200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rPr>
              <a:t xml:space="preserve"> → </a:t>
            </a:r>
            <a:r>
              <a:rPr lang="en-US" sz="120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bio.c</a:t>
            </a:r>
            <a:r>
              <a:rPr lang="en-US" sz="1200" dirty="0">
                <a:solidFill>
                  <a:srgbClr val="4B5563"/>
                </a:solidFill>
                <a:latin typeface="Noto Sans CJK SC"/>
                <a:ea typeface="Noto Sans CJK SC"/>
                <a:cs typeface="Noto Sans CJK SC"/>
              </a:rPr>
              <a:t xml:space="preserve"> → virtio disk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72250" y="53244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理解重点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6060" y="5661660"/>
            <a:ext cx="73593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最上层是用户可见接口，最下层是块设备与缓存，中间的 inode、日志与路径解析才是扩展的关键位置。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29211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文件系统基础功能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56149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在扩展之前，文件描述符、路径解析和基本文件操作链路已经完整可用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85950"/>
            <a:ext cx="3676650" cy="40957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45845" y="2126932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从进程视角看文件访问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9655" y="2540318"/>
            <a:ext cx="2606040" cy="1131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用户态拿到的是 </a:t>
            </a:r>
            <a:r>
              <a:rPr lang="en-US" sz="135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fd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内核先通过文件描述符表找到</a:t>
            </a:r>
            <a:r>
              <a:rPr lang="en-US" sz="1350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struct file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，再沿着 inode 和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目录项路径把操作落实到底层块。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0608" y="3958114"/>
            <a:ext cx="5796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B7280"/>
                </a:solidFill>
                <a:latin typeface="Noto Sans CJK SC"/>
                <a:ea typeface="Microsoft YaHei"/>
                <a:cs typeface="Noto Sans CJK SC"/>
              </a:rPr>
              <a:t>这也是后续解释 `lseek`、双盘与日志为什么都要改文件系统主路径的原因。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1885950"/>
            <a:ext cx="64389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953000" y="3371850"/>
            <a:ext cx="64389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0" y="4857750"/>
            <a:ext cx="64389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5253038" y="2235200"/>
            <a:ext cx="211518" cy="166688"/>
          </a:xfrm>
          <a:custGeom>
            <a:avLst/>
            <a:gdLst/>
            <a:ahLst/>
            <a:cxnLst/>
            <a:rect l="l" t="t" r="r" b="b"/>
            <a:pathLst>
              <a:path w="211518" h="166688">
                <a:moveTo>
                  <a:pt x="22225" y="166688"/>
                </a:moveTo>
                <a:lnTo>
                  <a:pt x="52862" y="85000"/>
                </a:lnTo>
                <a:cubicBezTo>
                  <a:pt x="54488" y="80663"/>
                  <a:pt x="58632" y="77789"/>
                  <a:pt x="63264" y="77788"/>
                </a:cubicBezTo>
                <a:lnTo>
                  <a:pt x="200026" y="77788"/>
                </a:lnTo>
                <a:cubicBezTo>
                  <a:pt x="203290" y="77789"/>
                  <a:pt x="206389" y="79226"/>
                  <a:pt x="208500" y="81718"/>
                </a:cubicBezTo>
                <a:cubicBezTo>
                  <a:pt x="210610" y="84209"/>
                  <a:pt x="211518" y="87502"/>
                  <a:pt x="210983" y="90723"/>
                </a:cubicBezTo>
                <a:lnTo>
                  <a:pt x="199914" y="148630"/>
                </a:lnTo>
                <a:cubicBezTo>
                  <a:pt x="197915" y="159106"/>
                  <a:pt x="188755" y="166685"/>
                  <a:pt x="178089" y="166688"/>
                </a:cubicBezTo>
                <a:lnTo>
                  <a:pt x="22225" y="166688"/>
                </a:lnTo>
                <a:cubicBezTo>
                  <a:pt x="9950" y="166688"/>
                  <a:pt x="0" y="156737"/>
                  <a:pt x="0" y="144463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66675" y="0"/>
                </a:lnTo>
                <a:lnTo>
                  <a:pt x="100013" y="33338"/>
                </a:lnTo>
                <a:lnTo>
                  <a:pt x="177801" y="33338"/>
                </a:lnTo>
                <a:cubicBezTo>
                  <a:pt x="190075" y="33338"/>
                  <a:pt x="200026" y="43288"/>
                  <a:pt x="200026" y="55563"/>
                </a:cubicBezTo>
                <a:lnTo>
                  <a:pt x="200026" y="77788"/>
                </a:lnTo>
              </a:path>
            </a:pathLst>
          </a:custGeom>
          <a:noFill/>
          <a:ln w="19050">
            <a:solidFill>
              <a:srgbClr val="1E3A8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99748" y="2230279"/>
            <a:ext cx="19255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基本文件/目录操作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03558" y="2567464"/>
            <a:ext cx="547306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支持创建、删除、打开、关闭、读写，以及目录切换和文件描述符管理。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253038" y="3709988"/>
            <a:ext cx="200025" cy="200025"/>
            <a:chOff x="5253038" y="3709988"/>
            <a:chExt cx="200025" cy="200025"/>
          </a:xfrm>
        </p:grpSpPr>
        <p:sp>
          <p:nvSpPr>
            <p:cNvPr id="17" name="Freeform 17"/>
            <p:cNvSpPr/>
            <p:nvPr/>
          </p:nvSpPr>
          <p:spPr>
            <a:xfrm>
              <a:off x="5253038" y="386556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22225"/>
                  </a:moveTo>
                  <a:cubicBezTo>
                    <a:pt x="0" y="34500"/>
                    <a:pt x="9950" y="44450"/>
                    <a:pt x="22225" y="44450"/>
                  </a:cubicBez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408613" y="370998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44450"/>
                  </a:move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  <a:cubicBezTo>
                    <a:pt x="0" y="34500"/>
                    <a:pt x="9950" y="44450"/>
                    <a:pt x="22225" y="44450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275263" y="3732213"/>
              <a:ext cx="166688" cy="155575"/>
            </a:xfrm>
            <a:custGeom>
              <a:avLst/>
              <a:gdLst/>
              <a:ahLst/>
              <a:cxnLst/>
              <a:rect l="l" t="t" r="r" b="b"/>
              <a:pathLst>
                <a:path w="166688" h="155575">
                  <a:moveTo>
                    <a:pt x="66675" y="155575"/>
                  </a:moveTo>
                  <a:lnTo>
                    <a:pt x="127794" y="155575"/>
                  </a:lnTo>
                  <a:cubicBezTo>
                    <a:pt x="149275" y="155575"/>
                    <a:pt x="166688" y="138162"/>
                    <a:pt x="166688" y="116682"/>
                  </a:cubicBezTo>
                  <a:cubicBezTo>
                    <a:pt x="166688" y="95201"/>
                    <a:pt x="149275" y="77788"/>
                    <a:pt x="127794" y="77788"/>
                  </a:cubicBezTo>
                  <a:lnTo>
                    <a:pt x="38894" y="77788"/>
                  </a:lnTo>
                  <a:cubicBezTo>
                    <a:pt x="17413" y="77788"/>
                    <a:pt x="0" y="60374"/>
                    <a:pt x="0" y="38894"/>
                  </a:cubicBezTo>
                  <a:cubicBezTo>
                    <a:pt x="0" y="17413"/>
                    <a:pt x="17413" y="0"/>
                    <a:pt x="38894" y="0"/>
                  </a:cubicBez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5599748" y="3716179"/>
            <a:ext cx="246580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绝对路径与相对路径解析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03558" y="4053364"/>
            <a:ext cx="54390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路径遍历能够从当前目录或根目录出发，把用户路径解析到具体 inode。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53038" y="5207000"/>
            <a:ext cx="200025" cy="187326"/>
            <a:chOff x="5253038" y="5207000"/>
            <a:chExt cx="200025" cy="187326"/>
          </a:xfrm>
        </p:grpSpPr>
        <p:sp>
          <p:nvSpPr>
            <p:cNvPr id="23" name="Freeform 23"/>
            <p:cNvSpPr/>
            <p:nvPr/>
          </p:nvSpPr>
          <p:spPr>
            <a:xfrm>
              <a:off x="5253038" y="5295900"/>
              <a:ext cx="66675" cy="88900"/>
            </a:xfrm>
            <a:custGeom>
              <a:avLst/>
              <a:gdLst/>
              <a:ahLst/>
              <a:cxnLst/>
              <a:rect l="l" t="t" r="r" b="b"/>
              <a:pathLst>
                <a:path w="66675" h="88900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77788"/>
                  </a:lnTo>
                  <a:cubicBezTo>
                    <a:pt x="66675" y="83925"/>
                    <a:pt x="61700" y="88900"/>
                    <a:pt x="55563" y="88900"/>
                  </a:cubicBezTo>
                  <a:lnTo>
                    <a:pt x="11113" y="88900"/>
                  </a:lnTo>
                  <a:cubicBezTo>
                    <a:pt x="4975" y="88900"/>
                    <a:pt x="0" y="83925"/>
                    <a:pt x="0" y="7778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386388" y="5251450"/>
              <a:ext cx="66675" cy="133350"/>
            </a:xfrm>
            <a:custGeom>
              <a:avLst/>
              <a:gdLst/>
              <a:ahLst/>
              <a:cxnLst/>
              <a:rect l="l" t="t" r="r" b="b"/>
              <a:pathLst>
                <a:path w="66675" h="133350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122238"/>
                  </a:lnTo>
                  <a:cubicBezTo>
                    <a:pt x="66675" y="128375"/>
                    <a:pt x="61700" y="133350"/>
                    <a:pt x="55563" y="133350"/>
                  </a:cubicBezTo>
                  <a:lnTo>
                    <a:pt x="11113" y="133350"/>
                  </a:lnTo>
                  <a:cubicBezTo>
                    <a:pt x="4975" y="133350"/>
                    <a:pt x="0" y="128375"/>
                    <a:pt x="0" y="12223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319713" y="5207000"/>
              <a:ext cx="66675" cy="177801"/>
            </a:xfrm>
            <a:custGeom>
              <a:avLst/>
              <a:gdLst/>
              <a:ahLst/>
              <a:cxnLst/>
              <a:rect l="l" t="t" r="r" b="b"/>
              <a:pathLst>
                <a:path w="66675" h="177801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166688"/>
                  </a:lnTo>
                  <a:cubicBezTo>
                    <a:pt x="66675" y="172825"/>
                    <a:pt x="61700" y="177801"/>
                    <a:pt x="55563" y="177801"/>
                  </a:cubicBezTo>
                  <a:lnTo>
                    <a:pt x="11113" y="177801"/>
                  </a:lnTo>
                  <a:cubicBezTo>
                    <a:pt x="4975" y="177801"/>
                    <a:pt x="0" y="172825"/>
                    <a:pt x="0" y="16668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264150" y="5384801"/>
              <a:ext cx="155575" cy="9525"/>
            </a:xfrm>
            <a:custGeom>
              <a:avLst/>
              <a:gdLst/>
              <a:ahLst/>
              <a:cxnLst/>
              <a:rect l="l" t="t" r="r" b="b"/>
              <a:pathLst>
                <a:path w="155575" h="9525">
                  <a:moveTo>
                    <a:pt x="0" y="0"/>
                  </a:moveTo>
                  <a:lnTo>
                    <a:pt x="155575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5599748" y="5202079"/>
            <a:ext cx="198064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lseek 支持随机访问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03558" y="5539264"/>
            <a:ext cx="68162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已补齐 `SEEK_SET / SEEK_CUR / SEEK_END`，既能重定位读写偏移，也能获取文件大小。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649157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文件系统扩展一：日志机制与双独立磁盘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70641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重点不是多接一个镜像，而是把日志、superblock、inode 和路径解析都改成按设备解释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28800"/>
            <a:ext cx="5600700" cy="327660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967653"/>
            <a:ext cx="5334000" cy="2998893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6896100" y="1828800"/>
            <a:ext cx="44958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896100" y="3638550"/>
            <a:ext cx="44958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00100" y="5429250"/>
            <a:ext cx="10591800" cy="60960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7191375" y="2131219"/>
            <a:ext cx="190500" cy="214312"/>
            <a:chOff x="7191375" y="2131219"/>
            <a:chExt cx="190500" cy="214312"/>
          </a:xfrm>
        </p:grpSpPr>
        <p:sp>
          <p:nvSpPr>
            <p:cNvPr id="12" name="Freeform 12"/>
            <p:cNvSpPr/>
            <p:nvPr/>
          </p:nvSpPr>
          <p:spPr>
            <a:xfrm>
              <a:off x="7191375" y="2131219"/>
              <a:ext cx="190500" cy="71438"/>
            </a:xfrm>
            <a:custGeom>
              <a:avLst/>
              <a:gdLst/>
              <a:ahLst/>
              <a:cxnLst/>
              <a:rect l="l" t="t" r="r" b="b"/>
              <a:pathLst>
                <a:path w="190500" h="71438">
                  <a:moveTo>
                    <a:pt x="0" y="35719"/>
                  </a:moveTo>
                  <a:cubicBezTo>
                    <a:pt x="0" y="55446"/>
                    <a:pt x="42645" y="71438"/>
                    <a:pt x="95250" y="71438"/>
                  </a:cubicBezTo>
                  <a:cubicBezTo>
                    <a:pt x="147855" y="71438"/>
                    <a:pt x="190500" y="55446"/>
                    <a:pt x="190500" y="35719"/>
                  </a:cubicBezTo>
                  <a:cubicBezTo>
                    <a:pt x="190500" y="15992"/>
                    <a:pt x="147855" y="0"/>
                    <a:pt x="95250" y="0"/>
                  </a:cubicBezTo>
                  <a:cubicBezTo>
                    <a:pt x="42645" y="0"/>
                    <a:pt x="0" y="15992"/>
                    <a:pt x="0" y="35719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191375" y="2166938"/>
              <a:ext cx="190500" cy="107156"/>
            </a:xfrm>
            <a:custGeom>
              <a:avLst/>
              <a:gdLst/>
              <a:ahLst/>
              <a:cxnLst/>
              <a:rect l="l" t="t" r="r" b="b"/>
              <a:pathLst>
                <a:path w="190500" h="107156">
                  <a:moveTo>
                    <a:pt x="0" y="0"/>
                  </a:moveTo>
                  <a:lnTo>
                    <a:pt x="0" y="71438"/>
                  </a:lnTo>
                  <a:cubicBezTo>
                    <a:pt x="0" y="91164"/>
                    <a:pt x="42645" y="107156"/>
                    <a:pt x="95250" y="107156"/>
                  </a:cubicBezTo>
                  <a:cubicBezTo>
                    <a:pt x="147855" y="107156"/>
                    <a:pt x="190500" y="91164"/>
                    <a:pt x="190500" y="71438"/>
                  </a:cubicBez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191375" y="2238375"/>
              <a:ext cx="190500" cy="107156"/>
            </a:xfrm>
            <a:custGeom>
              <a:avLst/>
              <a:gdLst/>
              <a:ahLst/>
              <a:cxnLst/>
              <a:rect l="l" t="t" r="r" b="b"/>
              <a:pathLst>
                <a:path w="190500" h="107156">
                  <a:moveTo>
                    <a:pt x="0" y="0"/>
                  </a:moveTo>
                  <a:lnTo>
                    <a:pt x="0" y="71438"/>
                  </a:lnTo>
                  <a:cubicBezTo>
                    <a:pt x="0" y="91164"/>
                    <a:pt x="42645" y="107156"/>
                    <a:pt x="95250" y="107156"/>
                  </a:cubicBezTo>
                  <a:cubicBezTo>
                    <a:pt x="147855" y="107156"/>
                    <a:pt x="190500" y="91164"/>
                    <a:pt x="190500" y="71438"/>
                  </a:cubicBez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7522845" y="214598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日志事务机制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27608" y="2491264"/>
            <a:ext cx="3473291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begin_op()/end_op()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管理事务边界，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log_write()/commit()/recover_from_log()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保证多块更新在崩溃后仍能恢复一致。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79469" y="3940969"/>
            <a:ext cx="214312" cy="214312"/>
            <a:chOff x="7179469" y="3940969"/>
            <a:chExt cx="214312" cy="214312"/>
          </a:xfrm>
        </p:grpSpPr>
        <p:sp>
          <p:nvSpPr>
            <p:cNvPr id="18" name="Freeform 18"/>
            <p:cNvSpPr/>
            <p:nvPr/>
          </p:nvSpPr>
          <p:spPr>
            <a:xfrm>
              <a:off x="7179469" y="410765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346156" y="394096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12" y="47625"/>
                  </a:move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  <a:cubicBezTo>
                    <a:pt x="0" y="36964"/>
                    <a:pt x="10661" y="47625"/>
                    <a:pt x="23812" y="47625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203281" y="3964781"/>
              <a:ext cx="178594" cy="166688"/>
            </a:xfrm>
            <a:custGeom>
              <a:avLst/>
              <a:gdLst/>
              <a:ahLst/>
              <a:cxnLst/>
              <a:rect l="l" t="t" r="r" b="b"/>
              <a:pathLst>
                <a:path w="178594" h="166688">
                  <a:moveTo>
                    <a:pt x="71438" y="166688"/>
                  </a:moveTo>
                  <a:lnTo>
                    <a:pt x="136922" y="166688"/>
                  </a:lnTo>
                  <a:cubicBezTo>
                    <a:pt x="159937" y="166688"/>
                    <a:pt x="178594" y="148030"/>
                    <a:pt x="178594" y="125016"/>
                  </a:cubicBezTo>
                  <a:cubicBezTo>
                    <a:pt x="178594" y="102001"/>
                    <a:pt x="159937" y="83344"/>
                    <a:pt x="136922" y="83344"/>
                  </a:cubicBezTo>
                  <a:lnTo>
                    <a:pt x="41672" y="83344"/>
                  </a:lnTo>
                  <a:cubicBezTo>
                    <a:pt x="18657" y="83344"/>
                    <a:pt x="0" y="64687"/>
                    <a:pt x="0" y="41672"/>
                  </a:cubicBezTo>
                  <a:cubicBezTo>
                    <a:pt x="0" y="18657"/>
                    <a:pt x="18657" y="0"/>
                    <a:pt x="41672" y="0"/>
                  </a:cubicBez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7522845" y="3955732"/>
            <a:ext cx="22020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双独立磁盘与 /disk1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7608" y="4301014"/>
            <a:ext cx="3327559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根盘使用 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fs.img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，第二盘使用 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fs1.img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，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文件不能跨盘分配；</a:t>
            </a:r>
            <a:r>
              <a:rPr lang="en-US" sz="1275" dirty="0">
                <a:solidFill>
                  <a:srgbClr val="1E3A8A"/>
                </a:solidFill>
                <a:latin typeface="Noto Sans CJK SC"/>
                <a:ea typeface="Noto Sans CJK SC"/>
                <a:cs typeface="Noto Sans CJK SC"/>
              </a:rPr>
              <a:t>/disk1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是静态挂载边界，</a:t>
            </a:r>
            <a:r>
              <a:rPr lang="en-US" sz="1275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cd /disk1; cd ..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 可回到根盘 `/`。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1555" y="5664518"/>
            <a:ext cx="10034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创新点在于：路径遍历、superblock、日志路由和挂载点语义被统一调整为“按设备解释”，而不是只在 QEMU 里多挂一块盘。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542043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文件系统扩展二：隐藏与颜色显示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60560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隐藏和着色被实现为 ls 的展示策略，因此不改磁盘格式，也不破坏双盘语义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85950"/>
            <a:ext cx="4953000" cy="37147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438900" y="1885950"/>
            <a:ext cx="4953000" cy="37147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083469" y="2150269"/>
            <a:ext cx="214312" cy="214312"/>
            <a:chOff x="1083469" y="2150269"/>
            <a:chExt cx="214312" cy="214312"/>
          </a:xfrm>
        </p:grpSpPr>
        <p:sp>
          <p:nvSpPr>
            <p:cNvPr id="9" name="Freeform 9"/>
            <p:cNvSpPr/>
            <p:nvPr/>
          </p:nvSpPr>
          <p:spPr>
            <a:xfrm>
              <a:off x="1164480" y="2240601"/>
              <a:ext cx="42981" cy="42975"/>
            </a:xfrm>
            <a:custGeom>
              <a:avLst/>
              <a:gdLst/>
              <a:ahLst/>
              <a:cxnLst/>
              <a:rect l="l" t="t" r="r" b="b"/>
              <a:pathLst>
                <a:path w="42981" h="42975">
                  <a:moveTo>
                    <a:pt x="9298" y="0"/>
                  </a:moveTo>
                  <a:cubicBezTo>
                    <a:pt x="0" y="9301"/>
                    <a:pt x="3" y="24379"/>
                    <a:pt x="9304" y="33677"/>
                  </a:cubicBezTo>
                  <a:cubicBezTo>
                    <a:pt x="18605" y="42975"/>
                    <a:pt x="33683" y="42972"/>
                    <a:pt x="42981" y="33671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83469" y="2185969"/>
              <a:ext cx="214312" cy="143024"/>
            </a:xfrm>
            <a:custGeom>
              <a:avLst/>
              <a:gdLst/>
              <a:ahLst/>
              <a:cxnLst/>
              <a:rect l="l" t="t" r="r" b="b"/>
              <a:pathLst>
                <a:path w="214312" h="143024">
                  <a:moveTo>
                    <a:pt x="162889" y="127094"/>
                  </a:moveTo>
                  <a:cubicBezTo>
                    <a:pt x="146188" y="137544"/>
                    <a:pt x="126857" y="143024"/>
                    <a:pt x="107156" y="142894"/>
                  </a:cubicBezTo>
                  <a:cubicBezTo>
                    <a:pt x="64294" y="142894"/>
                    <a:pt x="28575" y="119081"/>
                    <a:pt x="0" y="71456"/>
                  </a:cubicBezTo>
                  <a:cubicBezTo>
                    <a:pt x="15145" y="46215"/>
                    <a:pt x="32290" y="27665"/>
                    <a:pt x="51435" y="15806"/>
                  </a:cubicBezTo>
                  <a:moveTo>
                    <a:pt x="85487" y="2162"/>
                  </a:moveTo>
                  <a:cubicBezTo>
                    <a:pt x="92619" y="718"/>
                    <a:pt x="99879" y="0"/>
                    <a:pt x="107156" y="19"/>
                  </a:cubicBezTo>
                  <a:cubicBezTo>
                    <a:pt x="150019" y="19"/>
                    <a:pt x="185738" y="23831"/>
                    <a:pt x="214312" y="71456"/>
                  </a:cubicBezTo>
                  <a:cubicBezTo>
                    <a:pt x="206383" y="84672"/>
                    <a:pt x="197894" y="96066"/>
                    <a:pt x="188857" y="105627"/>
                  </a:cubicBez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83469" y="2150269"/>
              <a:ext cx="214312" cy="214312"/>
            </a:xfrm>
            <a:custGeom>
              <a:avLst/>
              <a:gdLst/>
              <a:ahLst/>
              <a:cxnLst/>
              <a:rect l="l" t="t" r="r" b="b"/>
              <a:pathLst>
                <a:path w="214312" h="214312">
                  <a:moveTo>
                    <a:pt x="0" y="0"/>
                  </a:moveTo>
                  <a:lnTo>
                    <a:pt x="214312" y="214312"/>
                  </a:lnTo>
                </a:path>
              </a:pathLst>
            </a:custGeom>
            <a:noFill/>
            <a:ln w="19050">
              <a:solidFill>
                <a:srgbClr val="1E3A8A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26845" y="21650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隐藏规则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9655" y="2616518"/>
            <a:ext cx="4123373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`.` 与 `..` 默认隐藏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以 `.` 开头的文件或目录默认隐藏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根目录中 mkfs 预装的系统程序和设备入口默认隐藏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隐藏只影响列表输出，不影响显式路径访问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`ls -a` 用于展开全部隐藏项</a:t>
            </a:r>
          </a:p>
        </p:txBody>
      </p:sp>
      <p:sp>
        <p:nvSpPr>
          <p:cNvPr id="15" name="Freeform 15"/>
          <p:cNvSpPr/>
          <p:nvPr/>
        </p:nvSpPr>
        <p:spPr>
          <a:xfrm>
            <a:off x="6722269" y="2162175"/>
            <a:ext cx="226626" cy="178594"/>
          </a:xfrm>
          <a:custGeom>
            <a:avLst/>
            <a:gdLst/>
            <a:ahLst/>
            <a:cxnLst/>
            <a:rect l="l" t="t" r="r" b="b"/>
            <a:pathLst>
              <a:path w="226626" h="178594">
                <a:moveTo>
                  <a:pt x="23812" y="178594"/>
                </a:moveTo>
                <a:lnTo>
                  <a:pt x="56638" y="91071"/>
                </a:lnTo>
                <a:cubicBezTo>
                  <a:pt x="58380" y="86425"/>
                  <a:pt x="62820" y="83346"/>
                  <a:pt x="67782" y="83344"/>
                </a:cubicBezTo>
                <a:lnTo>
                  <a:pt x="214312" y="83344"/>
                </a:lnTo>
                <a:cubicBezTo>
                  <a:pt x="217811" y="83345"/>
                  <a:pt x="221131" y="84885"/>
                  <a:pt x="223392" y="87554"/>
                </a:cubicBezTo>
                <a:cubicBezTo>
                  <a:pt x="225653" y="90224"/>
                  <a:pt x="226626" y="93752"/>
                  <a:pt x="226052" y="97203"/>
                </a:cubicBezTo>
                <a:lnTo>
                  <a:pt x="214193" y="159246"/>
                </a:lnTo>
                <a:cubicBezTo>
                  <a:pt x="212051" y="170471"/>
                  <a:pt x="202237" y="178591"/>
                  <a:pt x="190810" y="178594"/>
                </a:cubicBezTo>
                <a:lnTo>
                  <a:pt x="23812" y="178594"/>
                </a:lnTo>
                <a:cubicBezTo>
                  <a:pt x="10661" y="178594"/>
                  <a:pt x="0" y="167933"/>
                  <a:pt x="0" y="154781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lnTo>
                  <a:pt x="71438" y="0"/>
                </a:lnTo>
                <a:lnTo>
                  <a:pt x="107156" y="35719"/>
                </a:lnTo>
                <a:lnTo>
                  <a:pt x="190500" y="35719"/>
                </a:lnTo>
                <a:cubicBezTo>
                  <a:pt x="203651" y="35719"/>
                  <a:pt x="214312" y="46380"/>
                  <a:pt x="214312" y="59531"/>
                </a:cubicBezTo>
                <a:lnTo>
                  <a:pt x="214312" y="83344"/>
                </a:lnTo>
              </a:path>
            </a:pathLst>
          </a:custGeom>
          <a:noFill/>
          <a:ln w="19050">
            <a:solidFill>
              <a:srgbClr val="1E3A8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065645" y="21650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颜色规则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4655" y="2616518"/>
            <a:ext cx="3609023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目录显示为蓝色，突出可进入的命名空间入口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设备文件显示为黄色，和普通文件区分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隐藏项在 `ls -a` 中显示为灰色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普通文件保持终端默认颜色</a:t>
            </a:r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仅着色文件名字段，不改 inode 和大小等列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" y="5867400"/>
            <a:ext cx="10591800" cy="43815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13460" y="6023610"/>
            <a:ext cx="85595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这一实现把“隐藏/颜色”控制在用户态 `ls` 中，因而不会增加 inode 元数据，也不会影响双盘路径解析和文件存储语义。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327817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文件系统测试与验证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52549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随机访问、双盘访问和目录显示增强都已经经过真实命令路径验证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790700"/>
            <a:ext cx="6629400" cy="23431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44" y="1924050"/>
            <a:ext cx="4281712" cy="2076450"/>
          </a:xfrm>
          <a:prstGeom prst="rect">
            <a:avLst/>
          </a:prstGeom>
        </p:spPr>
      </p:pic>
      <p:sp>
        <p:nvSpPr>
          <p:cNvPr id="9" name="Rectangle 9"/>
          <p:cNvSpPr/>
          <p:nvPr/>
        </p:nvSpPr>
        <p:spPr>
          <a:xfrm>
            <a:off x="7905750" y="1790700"/>
            <a:ext cx="3486150" cy="34861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67" y="1924050"/>
            <a:ext cx="3200315" cy="32194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00100" y="4495800"/>
            <a:ext cx="6629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46798" y="47067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测试结论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0608" y="5063014"/>
            <a:ext cx="725424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`lseektest: ALL TESTS PASSED`，覆盖 `SEEK_SET / SEEK_CUR / SEEK_END` 与文件大小获取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第二盘路径下的 `open/create/write/read` 与日志提交已跑通，说明双盘不是停留在设备识别层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`ls` 与 `ls -a` 的截图说明隐藏规则和颜色规则已经按预期工作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905750" y="5543550"/>
            <a:ext cx="3486150" cy="36195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81962" y="5660231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右图：隐藏文件与颜色显示的真实终端效果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6765" y="6116002"/>
            <a:ext cx="3744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Noto Sans CJK SC"/>
                <a:ea typeface="Microsoft YaHei"/>
                <a:cs typeface="Noto Sans CJK SC"/>
              </a:rPr>
              <a:t>左图：lseektest 结果截图；右图：ls / ls -a 目录显示截图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0100" y="514350"/>
            <a:ext cx="10668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7715" y="791528"/>
            <a:ext cx="77885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E3A8A"/>
                </a:solidFill>
                <a:latin typeface="Noto Sans CJK SC"/>
                <a:ea typeface="Microsoft YaHei"/>
                <a:cs typeface="Noto Sans CJK SC"/>
              </a:rPr>
              <a:t>总结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55" y="1283018"/>
            <a:ext cx="69201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本次个人工作是在 xv6 基础上完成理解、扩展和验证，而不是脱离真实代码的概念设计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760" y="6515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2038350"/>
            <a:ext cx="3086100" cy="24955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52950" y="2038350"/>
            <a:ext cx="3086100" cy="24955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305800" y="2038350"/>
            <a:ext cx="3086100" cy="2495550"/>
          </a:xfrm>
          <a:prstGeom prst="rect">
            <a:avLst/>
          </a:prstGeom>
          <a:solidFill>
            <a:srgbClr val="F4F7FB"/>
          </a:solidFill>
          <a:ln w="9525">
            <a:solidFill>
              <a:srgbClr val="D7E0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3940" y="2282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系统启动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0608" y="2719864"/>
            <a:ext cx="2606992" cy="1059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从 QEMU 到 shell 的链路稳定贯通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保存 DTB 指针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- 启动日志接入 kmalloctest 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shell 默认进入 /desktop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6790" y="2282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内存系统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03458" y="2719864"/>
            <a:ext cx="2096929" cy="1059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运行时物理内存探测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 xml:space="preserve">- Sv39 页表与 lazy sbrk 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kmalloc/kmfree 两级架构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pipe/file 主路径验证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49640" y="2282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文件系统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6308" y="2719864"/>
            <a:ext cx="1789271" cy="1059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lseek 随机访问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日志机制与双独立磁盘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/disk1 静态挂载</a:t>
            </a:r>
            <a:r>
              <a:rPr lang="zh-CN" sz="1275" dirty="0">
                <a:solidFill>
                  <a:srgbClr val="4B5563"/>
                </a:solidFill>
                <a:latin typeface="Noto Sans CJK SC"/>
                <a:ea typeface="Microsoft YaHei"/>
                <a:cs typeface="Noto Sans CJK SC"/>
              </a:rPr>
              <a:t>- 隐藏与颜色显示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0100" y="5143500"/>
            <a:ext cx="10591800" cy="857250"/>
          </a:xfrm>
          <a:prstGeom prst="rect">
            <a:avLst/>
          </a:prstGeom>
          <a:solidFill>
            <a:srgbClr val="FFF7E8"/>
          </a:solidFill>
          <a:ln w="9525">
            <a:solidFill>
              <a:srgbClr val="F59E0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46798" y="5325904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最终结论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0608" y="5682139"/>
            <a:ext cx="93835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11827"/>
                </a:solidFill>
                <a:latin typeface="Noto Sans CJK SC"/>
                <a:ea typeface="Microsoft YaHei"/>
                <a:cs typeface="Noto Sans CJK SC"/>
              </a:rPr>
              <a:t>三个模块的扩展都已经具备真实运行证据，说明本人负责部分不仅完成了代码实现，也完成了可复现、可答辩的系统级验证。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2026-06-21T00:06:40Z</dcterms:created>
  <dcterms:modified xsi:type="dcterms:W3CDTF">2026-06-21T00:06:40Z</dcterms:modified>
  <cp:category/>
  <cp:contentStatus/>
</cp:coreProperties>
</file>